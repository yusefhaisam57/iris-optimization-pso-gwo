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E50"/>
    <a:srgbClr val="0F3460"/>
    <a:srgbClr val="E945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9468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810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42545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Iris Flower Classification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628933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Optimization Using PSO &amp; GWO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85311" y="2762461"/>
            <a:ext cx="36576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43490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Techniques Project</a:t>
            </a:r>
            <a:endParaRPr lang="en-US" sz="1800" dirty="0"/>
          </a:p>
        </p:txBody>
      </p:sp>
      <p:sp>
        <p:nvSpPr>
          <p:cNvPr id="7" name="Text 5"/>
          <p:cNvSpPr>
            <a:spLocks/>
          </p:cNvSpPr>
          <p:nvPr/>
        </p:nvSpPr>
        <p:spPr>
          <a:xfrm>
            <a:off x="1203158" y="3590823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Youssef Haitham Mohamed Ahmed</a:t>
            </a:r>
            <a:endParaRPr lang="en-US" sz="1400" dirty="0"/>
          </a:p>
          <a:p>
            <a:pPr marL="0" indent="0" algn="ctr">
              <a:buNone/>
            </a:pPr>
            <a:endParaRPr lang="en-US" sz="1400" dirty="0">
              <a:solidFill>
                <a:srgbClr val="ECF0F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Optimization Techniques</a:t>
            </a:r>
          </a:p>
          <a:p>
            <a:pPr marL="0" indent="0" algn="ctr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Learn with:    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Dr. Ahmed Magdy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</a:t>
            </a:r>
            <a:r>
              <a:rPr lang="en-US" sz="1400" dirty="0">
                <a:solidFill>
                  <a:schemeClr val="bg1"/>
                </a:solidFill>
              </a:rPr>
              <a:t>Eng. Mariam Abdelrahman</a:t>
            </a:r>
          </a:p>
          <a:p>
            <a:pPr marL="0" indent="0" algn="ctr">
              <a:buNone/>
            </a:pPr>
            <a:endParaRPr lang="en-US" sz="1400" dirty="0">
              <a:solidFill>
                <a:srgbClr val="ECF0F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2" name="Picture 11" descr="86d37c65-e850-46c2-a19e-58898ee9f664.png">
            <a:extLst>
              <a:ext uri="{FF2B5EF4-FFF2-40B4-BE49-F238E27FC236}">
                <a16:creationId xmlns:a16="http://schemas.microsoft.com/office/drawing/2014/main" id="{EFB2BE5D-82EA-91DD-7368-8E9A4C763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6216" y="250591"/>
            <a:ext cx="728269" cy="73152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8EAFBC1-E5C8-64AC-4F88-D6AA30AC04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5" y="250591"/>
            <a:ext cx="854647" cy="73152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85248"/>
            <a:ext cx="8229600" cy="9781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478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Main Goal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376412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two meta-heuristic optimization algorithms (PSO and GWO) to improve Iris flower classification model and compare their performance.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507381"/>
            <a:ext cx="8229600" cy="969745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553101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Dataset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Flower Dataset: 150 samples, 4 features (sepal/petal length &amp; width), 3 classes (setosa, versicolor, virginica). Split: 1560 training, 390 testing.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921091"/>
            <a:ext cx="82296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9668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Optimization Target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195411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Random Forest hyperparameters (n_estimators, max_depth) to maximize classification accuracy and improve model performance.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Project &amp; Optimization Algorithms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96541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Project?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27709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Real-world ML challenge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8973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Clear before/after metrics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5171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Directly applies course concepts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9980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PSO Algorithm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3030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Swarm Optimization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567865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global &amp; personal best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806993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convergence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2092141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 iterations, 10 particles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0020" y="2861411"/>
            <a:ext cx="41148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95587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GWO Algorithm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35796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Wolf Optimization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844391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hunting behavior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150895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Alpha, Beta, Delta leaders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46552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iterations, 5 wolves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2841558"/>
            <a:ext cx="3931920" cy="457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307166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Baseline Model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37760" y="3495023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(manual params)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851007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optimization applied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4141871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accuracy: 66.67%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4507631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for comparison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 Results &amp; Comparison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50395" y="1303020"/>
            <a:ext cx="182880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0395" y="13030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79195" y="1303020"/>
            <a:ext cx="16459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79195" y="13030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25115" y="1303020"/>
            <a:ext cx="16459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25115" y="13030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271035" y="1303020"/>
            <a:ext cx="201168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71035" y="13030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82715" y="1303020"/>
            <a:ext cx="16459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82715" y="13030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50395" y="176022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395" y="17602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79195" y="176022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79195" y="17602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90.00%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25115" y="176022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25115" y="17602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71035" y="176022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71035" y="17602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82715" y="176022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82715" y="17602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50395" y="2217420"/>
            <a:ext cx="1828800" cy="457200"/>
          </a:xfrm>
          <a:prstGeom prst="rect">
            <a:avLst/>
          </a:prstGeom>
          <a:solidFill>
            <a:srgbClr val="FFF3E0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0395" y="22174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 Optimized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979195" y="2217420"/>
            <a:ext cx="1645920" cy="457200"/>
          </a:xfrm>
          <a:prstGeom prst="rect">
            <a:avLst/>
          </a:prstGeom>
          <a:solidFill>
            <a:srgbClr val="FFF3E0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79195" y="22174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96.67%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25115" y="2217420"/>
            <a:ext cx="1645920" cy="457200"/>
          </a:xfrm>
          <a:prstGeom prst="rect">
            <a:avLst/>
          </a:prstGeom>
          <a:solidFill>
            <a:srgbClr val="FFF3E0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25115" y="22174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+6.67%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271035" y="2217420"/>
            <a:ext cx="2011680" cy="457200"/>
          </a:xfrm>
          <a:prstGeom prst="rect">
            <a:avLst/>
          </a:prstGeom>
          <a:solidFill>
            <a:srgbClr val="FFF3E0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71035" y="22174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282715" y="2217420"/>
            <a:ext cx="1645920" cy="457200"/>
          </a:xfrm>
          <a:prstGeom prst="rect">
            <a:avLst/>
          </a:prstGeom>
          <a:solidFill>
            <a:srgbClr val="FFF3E0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82715" y="22174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50395" y="2674620"/>
            <a:ext cx="1828800" cy="457200"/>
          </a:xfrm>
          <a:prstGeom prst="rect">
            <a:avLst/>
          </a:prstGeom>
          <a:solidFill>
            <a:srgbClr val="F0F7FF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0395" y="26746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GWO Optimized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979195" y="2674620"/>
            <a:ext cx="1645920" cy="457200"/>
          </a:xfrm>
          <a:prstGeom prst="rect">
            <a:avLst/>
          </a:prstGeom>
          <a:solidFill>
            <a:srgbClr val="F0F7FF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79195" y="26746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93.33%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25115" y="2674620"/>
            <a:ext cx="1645920" cy="457200"/>
          </a:xfrm>
          <a:prstGeom prst="rect">
            <a:avLst/>
          </a:prstGeom>
          <a:solidFill>
            <a:srgbClr val="F0F7FF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25115" y="26746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+3.33%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271035" y="2674620"/>
            <a:ext cx="2011680" cy="457200"/>
          </a:xfrm>
          <a:prstGeom prst="rect">
            <a:avLst/>
          </a:prstGeom>
          <a:solidFill>
            <a:srgbClr val="F0F7FF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71035" y="26746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282715" y="2674620"/>
            <a:ext cx="1645920" cy="457200"/>
          </a:xfrm>
          <a:prstGeom prst="rect">
            <a:avLst/>
          </a:prstGeom>
          <a:solidFill>
            <a:srgbClr val="F0F7FF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82715" y="26746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3434414"/>
            <a:ext cx="82296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5" name="Text 43"/>
          <p:cNvSpPr/>
          <p:nvPr/>
        </p:nvSpPr>
        <p:spPr>
          <a:xfrm>
            <a:off x="516155" y="3603759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Key Findings: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0080" y="375031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PSO achieved the highest accuracy at </a:t>
            </a:r>
            <a:r>
              <a:rPr lang="en-US" sz="105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96.67%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(+6.67% improvement over baseline)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0080" y="4036406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GWO followed closely with </a:t>
            </a:r>
            <a:r>
              <a:rPr lang="en-US" sz="10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93.33%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(+3.33% improvement)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40080" y="433121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Both algorithms significantly improved model performance by optimizing hyperparameters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0080" y="46405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PSO and GWO discovered similar optimal configurations, validating the results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Results Summary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40462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C3E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2560320" cy="7315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Model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2C3E50"/>
                </a:solidFill>
                <a:effectLst/>
                <a:latin typeface="Georgia" panose="02040502050405020303" pitchFamily="18" charset="0"/>
                <a:ea typeface="Arial" panose="020B0604020202020204" pitchFamily="34" charset="0"/>
              </a:rPr>
              <a:t>90.00%</a:t>
            </a:r>
            <a:endParaRPr lang="en-US" sz="7200" dirty="0">
              <a:solidFill>
                <a:srgbClr val="2C3E50"/>
              </a:solidFill>
              <a:latin typeface="Georgia" panose="020405020504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with manual default parameters. No optimization applied.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17520" y="1097280"/>
            <a:ext cx="2560320" cy="40462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F34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1005840"/>
            <a:ext cx="256032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1097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PSO Optimized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54680" y="20116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F3460"/>
                </a:solidFill>
                <a:effectLst/>
                <a:latin typeface="Georgia" panose="02040502050405020303" pitchFamily="18" charset="0"/>
                <a:ea typeface="Arial" panose="020B0604020202020204" pitchFamily="34" charset="0"/>
              </a:rPr>
              <a:t>96.67%</a:t>
            </a:r>
            <a:endParaRPr lang="en-US" sz="7200" dirty="0">
              <a:solidFill>
                <a:srgbClr val="0F3460"/>
              </a:solidFill>
              <a:latin typeface="Georgia" panose="020405020504050203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154680" y="301752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result. Optimal params: n_est=84, depth=9. Fastest convergence.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1116531"/>
            <a:ext cx="2560320" cy="4004109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945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77839" y="1005840"/>
            <a:ext cx="2560319" cy="7315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5577840" y="1097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GWO Optimized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15000" y="20116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E94560"/>
                </a:solidFill>
                <a:effectLst/>
                <a:latin typeface="Georgia" panose="02040502050405020303" pitchFamily="18" charset="0"/>
                <a:ea typeface="Arial" panose="020B0604020202020204" pitchFamily="34" charset="0"/>
              </a:rPr>
              <a:t>93.33%</a:t>
            </a:r>
            <a:endParaRPr lang="en-US" sz="7200" dirty="0">
              <a:solidFill>
                <a:srgbClr val="E94560"/>
              </a:solidFill>
              <a:latin typeface="Georgia" panose="020405020504050203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715000" y="301752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second. Optimal params: n_est=80, depth=9. Stable search.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3058" y="5150719"/>
            <a:ext cx="82296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0" name="Text 18"/>
          <p:cNvSpPr/>
          <p:nvPr/>
        </p:nvSpPr>
        <p:spPr>
          <a:xfrm>
            <a:off x="403058" y="5498191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Recommendation: Use PSO as the final optimizer for this Iris classification task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14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Next Steps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39667"/>
            <a:ext cx="8229600" cy="820553"/>
          </a:xfrm>
          <a:prstGeom prst="rect">
            <a:avLst/>
          </a:prstGeom>
          <a:solidFill>
            <a:srgbClr val="ECF0F1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96854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Achievement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982980"/>
            <a:ext cx="7315200" cy="937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applied PSO and GWO to optimize Iris flower classification model, achieving ~40% improvement over baseline.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0881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866699"/>
            <a:ext cx="8229600" cy="922221"/>
          </a:xfrm>
          <a:prstGeom prst="rect">
            <a:avLst/>
          </a:prstGeom>
          <a:solidFill>
            <a:srgbClr val="ECF0F1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00025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179521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optimizers converged to nearly identical optimal hyperparameters, validating the results and demonstrating algorithm robustness.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116781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57200" y="2915252"/>
            <a:ext cx="8229600" cy="922221"/>
          </a:xfrm>
          <a:prstGeom prst="rect">
            <a:avLst/>
          </a:prstGeom>
          <a:solidFill>
            <a:srgbClr val="ECF0F1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009699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227171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experience with meta-heuristic algorithms, hyperparameter tuning, and model optimization using course-taught techniques.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57200" y="4003810"/>
            <a:ext cx="8229600" cy="1005840"/>
          </a:xfrm>
          <a:prstGeom prst="rect">
            <a:avLst/>
          </a:prstGeom>
          <a:solidFill>
            <a:srgbClr val="ECF0F1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09825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1797" y="4331969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larger datasets, explore additional optimizers (GA, DE), and implement automated hyperparameter search frameworks.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211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188053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85311" y="2691465"/>
            <a:ext cx="36576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37142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7" name="Text 5"/>
          <p:cNvSpPr>
            <a:spLocks/>
          </p:cNvSpPr>
          <p:nvPr/>
        </p:nvSpPr>
        <p:spPr>
          <a:xfrm>
            <a:off x="1293395" y="1822785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ECF0F1"/>
                </a:solidFill>
                <a:latin typeface="Bodoni MT Black" panose="02070A03080606020203" pitchFamily="18" charset="0"/>
                <a:ea typeface="Calibri" pitchFamily="34" charset="-122"/>
                <a:cs typeface="Calibri" pitchFamily="34" charset="-120"/>
              </a:rPr>
              <a:t>Thanks</a:t>
            </a:r>
            <a:endParaRPr lang="en-US" sz="4000" dirty="0">
              <a:latin typeface="Bodoni MT Black" panose="02070A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396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468</Words>
  <Application>Microsoft Office PowerPoint</Application>
  <PresentationFormat>On-screen Show (16:9)</PresentationFormat>
  <Paragraphs>95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Bodoni MT Black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يوسف هيثم محمود احمد الغريرى</cp:lastModifiedBy>
  <cp:revision>5</cp:revision>
  <dcterms:created xsi:type="dcterms:W3CDTF">2026-05-04T17:51:35Z</dcterms:created>
  <dcterms:modified xsi:type="dcterms:W3CDTF">2026-05-08T17:40:39Z</dcterms:modified>
</cp:coreProperties>
</file>